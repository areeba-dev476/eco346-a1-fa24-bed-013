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81916-FD28-486B-B7A8-FC85A8A8D0E0}" type="datetimeFigureOut">
              <a:rPr lang="en-PK" smtClean="0"/>
              <a:t>25/10/2026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2B6FB-4235-4826-978C-9775AAC7E4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169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2B6FB-4235-4826-978C-9775AAC7E45D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9954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/>
          <a:p>
            <a:r>
              <a:rPr lang="en-US" dirty="0"/>
              <a:t>Earning distribution &amp; Age in Urban PK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902200"/>
            <a:ext cx="4897437" cy="124301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ECO346 – Assignment 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D01058-44ED-D48B-4B17-C6F1A23E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/>
          <a:p>
            <a:fld id="{A1E13346-F7F5-4C44-B104-DE14B3DCFECA}" type="datetime1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3EACF-90FD-8585-E19C-BDFD1460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Variant: 5</a:t>
            </a:r>
            <a:br>
              <a:rPr lang="en-GB" dirty="0"/>
            </a:br>
            <a:r>
              <a:rPr lang="en-GB" dirty="0"/>
              <a:t>Region: PK</a:t>
            </a:r>
            <a:br>
              <a:rPr lang="en-GB" dirty="0"/>
            </a:br>
            <a:r>
              <a:rPr lang="en-GB" dirty="0"/>
              <a:t>Tools: R &amp; Python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6EA54-C27A-5E28-D4E1-1D27848902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FA24-BED-013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3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0807-CFD0-9581-00DB-CC4DB040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Default vs Redesigned Graph: Earning &amp; Age</a:t>
            </a:r>
            <a:endParaRPr lang="en-PK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F930C-E31A-A18C-0B4A-41B8B4046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Default</a:t>
            </a:r>
            <a:endParaRPr lang="en-PK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DD7DC1-CC2F-36A3-8302-F4EE3FEF96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4213" y="2815696"/>
            <a:ext cx="4411662" cy="294110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2DA44-F7BE-FDEA-2FFF-4DC6B922E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b="1" dirty="0"/>
              <a:t>Redesigned</a:t>
            </a:r>
            <a:endParaRPr lang="en-PK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5B4B62C-2700-2EE6-8ABA-AA556FFF40C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200" y="2808288"/>
            <a:ext cx="4433888" cy="29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7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FE3F-42A9-5E5D-406D-92BEE8A8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solidFill>
                  <a:schemeClr val="accent1">
                    <a:lumMod val="75000"/>
                  </a:schemeClr>
                </a:solidFill>
              </a:rPr>
              <a:t>Earning in Urban KP</a:t>
            </a:r>
            <a:endParaRPr lang="en-PK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9B28-A1E2-5EEB-4290-BDD833AC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PK" sz="2000" b="1" dirty="0"/>
              <a:t>Qualifying earners: 678 out of 3,450 observations.</a:t>
            </a:r>
          </a:p>
          <a:p>
            <a:pPr lvl="0"/>
            <a:r>
              <a:rPr lang="en-PK" sz="2000" b="1" dirty="0"/>
              <a:t>10th percentile: Rs 108,000 per year.</a:t>
            </a:r>
          </a:p>
          <a:p>
            <a:pPr lvl="0"/>
            <a:r>
              <a:rPr lang="en-PK" sz="2000" b="1" dirty="0"/>
              <a:t>Median earnings: Rs 240,000 per year.</a:t>
            </a:r>
          </a:p>
          <a:p>
            <a:pPr lvl="0"/>
            <a:r>
              <a:rPr lang="en-PK" sz="2000" b="1" dirty="0"/>
              <a:t>90th percentile: Rs 588,000 per year.</a:t>
            </a:r>
          </a:p>
          <a:p>
            <a:pPr lvl="0"/>
            <a:r>
              <a:rPr lang="en-PK" sz="2000" b="1" dirty="0"/>
              <a:t>P90-to-median ratio: 2.45, indicating a substantial gap between high and typical earnings.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986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7A25-7E60-CBED-23E4-D4DA5405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7200" dirty="0">
                <a:solidFill>
                  <a:schemeClr val="accent1">
                    <a:lumMod val="75000"/>
                  </a:schemeClr>
                </a:solidFill>
              </a:rPr>
              <a:t>Methods, Verification </a:t>
            </a:r>
            <a:endParaRPr lang="en-PK" sz="7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3046-E98C-F486-E7FD-6CA50B2DD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K" sz="2800" b="1" dirty="0"/>
              <a:t>Data: PSLM person and household datasets.</a:t>
            </a:r>
          </a:p>
          <a:p>
            <a:pPr lvl="0"/>
            <a:r>
              <a:rPr lang="en-PK" sz="2800" b="1" dirty="0"/>
              <a:t>Sample: Urban Khyber Pakhtunkhwa, earners aged 15–64 with positive annual earnings.</a:t>
            </a:r>
          </a:p>
          <a:p>
            <a:pPr lvl="0"/>
            <a:r>
              <a:rPr lang="en-PK" sz="2800" b="1" dirty="0"/>
              <a:t>Method: Household weights used to calculate weighted earnings statistics and age-group means.</a:t>
            </a:r>
          </a:p>
          <a:p>
            <a:pPr lvl="0"/>
            <a:r>
              <a:rPr lang="en-PK" sz="2800" b="1" dirty="0"/>
              <a:t>Python verification: Python reproduced the weighted mean earnings for all 10 age groups calculated in R.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1707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01FE-08D9-8352-0701-AD78CF2B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en-PK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1452-1863-BAAF-EA84-C751AA13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K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Conclusion: Earnings generally increase with age across most age groups, but the 60–64 group has a lower mean and only 15 observations.</a:t>
            </a:r>
          </a:p>
          <a:p>
            <a:pPr lvl="0"/>
            <a:r>
              <a:rPr lang="en-PK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Limitation: These results show associations, not proof that age causes earnings to change.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547579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E2B330-7DB9-4CB0-97A6-80197FBE8288}">
  <ds:schemaRefs>
    <ds:schemaRef ds:uri="http://purl.org/dc/terms/"/>
    <ds:schemaRef ds:uri="http://www.w3.org/XML/1998/namespace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230e9df3-be65-4c73-a93b-d1236ebd677e"/>
    <ds:schemaRef ds:uri="71af3243-3dd4-4a8d-8c0d-dd76da1f02a5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{7E80DB5B-113B-4641-B18D-7A6BA1E15EF8}60b45c7d-cd58-4401-83df-27661c1423f7-TF6bb2abad-21af-44d1-a5ba-47d46adfe534_win32</Template>
  <TotalTime>27</TotalTime>
  <Words>192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JasmineUPC</vt:lpstr>
      <vt:lpstr>Raleway</vt:lpstr>
      <vt:lpstr>Times New Roman</vt:lpstr>
      <vt:lpstr>School Days</vt:lpstr>
      <vt:lpstr>Earning distribution &amp; Age in Urban PK </vt:lpstr>
      <vt:lpstr>Variant: 5 Region: PK Tools: R &amp; Python</vt:lpstr>
      <vt:lpstr>Default vs Redesigned Graph: Earning &amp; Age</vt:lpstr>
      <vt:lpstr>Earning in Urban KP</vt:lpstr>
      <vt:lpstr>Methods, Verification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areebasattar90@gmail.com</dc:creator>
  <cp:lastModifiedBy>areebasattar90@gmail.com</cp:lastModifiedBy>
  <cp:revision>1</cp:revision>
  <dcterms:created xsi:type="dcterms:W3CDTF">2026-10-25T15:50:46Z</dcterms:created>
  <dcterms:modified xsi:type="dcterms:W3CDTF">2026-10-25T16:17:51Z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